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59" r:id="rId5"/>
    <p:sldId id="260" r:id="rId6"/>
    <p:sldId id="271" r:id="rId7"/>
    <p:sldId id="261" r:id="rId8"/>
    <p:sldId id="262" r:id="rId9"/>
    <p:sldId id="263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7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2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3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103638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2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5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9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51060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4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5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5" y="3051014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4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6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7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5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3" y="609602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609600"/>
            <a:ext cx="5506157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72361" y="609601"/>
            <a:ext cx="400780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4"/>
            <a:ext cx="550613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1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0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1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0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872589"/>
            <a:ext cx="9302752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372798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83501" y="887859"/>
            <a:ext cx="729184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6841" y="3120015"/>
            <a:ext cx="7381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520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3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8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5" y="2943357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7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9" y="2943357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7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5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6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6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6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2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00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9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80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5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5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9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9603"/>
            <a:ext cx="2553327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3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7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5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8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Word Prediction using LSTM &amp; GRU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- CDAC Big Data Analytics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Team Leader: Sapedi Chetan Swaroop</a:t>
            </a:r>
          </a:p>
          <a:p>
            <a:r>
              <a:rPr dirty="0"/>
              <a:t>Prateek </a:t>
            </a:r>
            <a:r>
              <a:rPr dirty="0" err="1"/>
              <a:t>Kulshrestha</a:t>
            </a:r>
            <a:endParaRPr dirty="0"/>
          </a:p>
          <a:p>
            <a:r>
              <a:rPr dirty="0"/>
              <a:t>Rushikesh </a:t>
            </a:r>
            <a:r>
              <a:rPr dirty="0" err="1"/>
              <a:t>Pabalkar</a:t>
            </a:r>
            <a:endParaRPr dirty="0"/>
          </a:p>
          <a:p>
            <a:r>
              <a:rPr dirty="0"/>
              <a:t>Sonu Lad</a:t>
            </a:r>
          </a:p>
          <a:p>
            <a:r>
              <a:rPr dirty="0"/>
              <a:t>Abhishek Singh</a:t>
            </a:r>
          </a:p>
          <a:p>
            <a:r>
              <a:rPr dirty="0"/>
              <a:t>Anannya Sarkar</a:t>
            </a:r>
          </a:p>
          <a:p>
            <a:r>
              <a:rPr dirty="0" err="1"/>
              <a:t>Shakyadita</a:t>
            </a:r>
            <a:r>
              <a:rPr dirty="0"/>
              <a:t> Sonawane</a:t>
            </a:r>
          </a:p>
          <a:p>
            <a:r>
              <a:rPr dirty="0"/>
              <a:t>Vedika Mule</a:t>
            </a:r>
          </a:p>
        </p:txBody>
      </p:sp>
    </p:spTree>
    <p:extLst>
      <p:ext uri="{BB962C8B-B14F-4D97-AF65-F5344CB8AC3E}">
        <p14:creationId xmlns:p14="http://schemas.microsoft.com/office/powerpoint/2010/main" val="350446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the next word in a given sentence.</a:t>
            </a:r>
          </a:p>
          <a:p>
            <a:r>
              <a:rPr lang="en-US" dirty="0"/>
              <a:t>Enhance contextual understanding using deep learning.</a:t>
            </a:r>
          </a:p>
          <a:p>
            <a:r>
              <a:rPr lang="en-US" dirty="0"/>
              <a:t>Application in text generation, chatbot development, autocomplete systems.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cap="none" dirty="0">
                <a:latin typeface="Arial" panose="020B0604020202020204" pitchFamily="34" charset="0"/>
              </a:rPr>
              <a:t>Source 1:</a:t>
            </a:r>
            <a:r>
              <a:rPr lang="en-US" altLang="en-US" sz="1800" cap="none" dirty="0">
                <a:latin typeface="Arial" panose="020B0604020202020204" pitchFamily="34" charset="0"/>
              </a:rPr>
              <a:t> Data related to Bhopal Gas Tragedy.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b="1" dirty="0"/>
              <a:t>Source 2:</a:t>
            </a:r>
            <a:r>
              <a:rPr lang="en-US" sz="1800" dirty="0"/>
              <a:t> Text corpus from books/public sources.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cap="none" dirty="0">
                <a:latin typeface="Arial" panose="020B0604020202020204" pitchFamily="34" charset="0"/>
              </a:rPr>
              <a:t>Combined dataset for richer context and vocabulary.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cap="none" dirty="0">
                <a:latin typeface="Arial" panose="020B0604020202020204" pitchFamily="34" charset="0"/>
              </a:rPr>
              <a:t>Preprocessing: Tokenization, Lowercasing, Removal of Punctuations.</a:t>
            </a:r>
          </a:p>
          <a:p>
            <a:endParaRPr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E44D0F5-1BBC-13F9-4FB6-67FF4E753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8462F71-BEFC-B55A-F5EB-4B7B1A3E5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FEA6AF66-5C6E-702B-48F9-23F67E98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LSTM Model:</a:t>
            </a:r>
            <a:endParaRPr lang="en-IN" dirty="0"/>
          </a:p>
          <a:p>
            <a:pPr lvl="1"/>
            <a:r>
              <a:rPr lang="en-IN" dirty="0"/>
              <a:t>Embedding Layer</a:t>
            </a:r>
          </a:p>
          <a:p>
            <a:pPr lvl="1"/>
            <a:r>
              <a:rPr lang="en-IN" dirty="0"/>
              <a:t>LSTM Layer</a:t>
            </a:r>
          </a:p>
          <a:p>
            <a:pPr lvl="1"/>
            <a:r>
              <a:rPr lang="en-IN" dirty="0"/>
              <a:t>Dense Layer with </a:t>
            </a:r>
            <a:r>
              <a:rPr lang="en-IN" dirty="0" err="1"/>
              <a:t>Softmax</a:t>
            </a:r>
            <a:r>
              <a:rPr lang="en-IN" dirty="0"/>
              <a:t> Activation</a:t>
            </a:r>
          </a:p>
          <a:p>
            <a:r>
              <a:rPr lang="en-IN" b="1" dirty="0"/>
              <a:t>GRU Model:</a:t>
            </a:r>
            <a:endParaRPr lang="en-IN" dirty="0"/>
          </a:p>
          <a:p>
            <a:pPr lvl="1"/>
            <a:r>
              <a:rPr lang="en-IN" dirty="0"/>
              <a:t>Similar to LSTM with GRU Layer instead</a:t>
            </a:r>
          </a:p>
          <a:p>
            <a:r>
              <a:rPr lang="en-IN" dirty="0"/>
              <a:t>Used categorical cross-entropy loss &amp; Adam optimizer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9BDAA-56B5-29BF-2DF3-9CE85533F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42" y="1051628"/>
            <a:ext cx="2602230" cy="5669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024CA6-6D4F-1AF2-B055-B1E007653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61" y="1051628"/>
            <a:ext cx="3516797" cy="5596060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2A9AE5A3-13CB-4CE9-E188-34A00A98805D}"/>
              </a:ext>
            </a:extLst>
          </p:cNvPr>
          <p:cNvSpPr/>
          <p:nvPr/>
        </p:nvSpPr>
        <p:spPr>
          <a:xfrm>
            <a:off x="3986784" y="4283964"/>
            <a:ext cx="2980944" cy="179222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B451858-9D88-B2D3-625C-3CCC6802E39A}"/>
              </a:ext>
            </a:extLst>
          </p:cNvPr>
          <p:cNvSpPr/>
          <p:nvPr/>
        </p:nvSpPr>
        <p:spPr>
          <a:xfrm>
            <a:off x="4453128" y="1874520"/>
            <a:ext cx="2980944" cy="17922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CF6C6-4725-306D-80B5-0C93A7CD68B6}"/>
              </a:ext>
            </a:extLst>
          </p:cNvPr>
          <p:cNvSpPr txBox="1"/>
          <p:nvPr/>
        </p:nvSpPr>
        <p:spPr>
          <a:xfrm>
            <a:off x="4590288" y="2491740"/>
            <a:ext cx="2295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ARCHITECTURE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3AC77-CE5B-1B01-C148-1115F015EC41}"/>
              </a:ext>
            </a:extLst>
          </p:cNvPr>
          <p:cNvSpPr txBox="1"/>
          <p:nvPr/>
        </p:nvSpPr>
        <p:spPr>
          <a:xfrm>
            <a:off x="4663440" y="4718411"/>
            <a:ext cx="256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39674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Tokenization &amp; Sequence Creation</a:t>
            </a:r>
          </a:p>
          <a:p>
            <a:r>
              <a:rPr lang="en-US" dirty="0"/>
              <a:t>Model Building (LSTM &amp; GRU)</a:t>
            </a:r>
          </a:p>
          <a:p>
            <a:r>
              <a:rPr lang="en-US" dirty="0"/>
              <a:t>Training &amp; Evaluation</a:t>
            </a:r>
          </a:p>
          <a:p>
            <a:r>
              <a:rPr lang="en-US" dirty="0"/>
              <a:t>Prediction Interface using Flask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Evaluation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cap="none" dirty="0">
                <a:latin typeface="Arial" panose="020B0604020202020204" pitchFamily="34" charset="0"/>
              </a:rPr>
              <a:t>Metrics Used: Accuracy, Loss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cap="none" dirty="0">
                <a:latin typeface="Arial" panose="020B0604020202020204" pitchFamily="34" charset="0"/>
              </a:rPr>
              <a:t>LSTM Training Accuracy: ~78%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cap="none" dirty="0">
                <a:latin typeface="Arial" panose="020B0604020202020204" pitchFamily="34" charset="0"/>
              </a:rPr>
              <a:t>GRU Training Accuracy: ~80.5%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cap="none" dirty="0">
                <a:latin typeface="Arial" panose="020B0604020202020204" pitchFamily="34" charset="0"/>
              </a:rPr>
              <a:t>Graphs: Training vs Validation Loss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cap="none" dirty="0">
                <a:latin typeface="Arial" panose="020B0604020202020204" pitchFamily="34" charset="0"/>
              </a:rPr>
              <a:t>Confusion matrix for generated vs actual tokens (for evaluation purpose only)</a:t>
            </a:r>
          </a:p>
          <a:p>
            <a:endParaRPr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D259EB0-5722-73CF-04CD-C5ADEF52E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A02108-C0AE-C14C-67D9-1E599F70C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4DF446-0310-DAE9-B8A5-4783BF6C6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Performance Comparison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LSTM:</a:t>
            </a:r>
            <a:endParaRPr lang="en-US" dirty="0"/>
          </a:p>
          <a:p>
            <a:pPr lvl="1"/>
            <a:r>
              <a:rPr lang="en-US" dirty="0"/>
              <a:t>Pros: Better long-term memory</a:t>
            </a:r>
          </a:p>
          <a:p>
            <a:pPr lvl="1"/>
            <a:r>
              <a:rPr lang="en-US" dirty="0"/>
              <a:t>Cons: Computationally heavy</a:t>
            </a:r>
          </a:p>
          <a:p>
            <a:r>
              <a:rPr lang="en-US" b="1" dirty="0"/>
              <a:t>GRU:</a:t>
            </a:r>
            <a:endParaRPr lang="en-US" dirty="0"/>
          </a:p>
          <a:p>
            <a:pPr lvl="1"/>
            <a:r>
              <a:rPr lang="en-US" dirty="0"/>
              <a:t>Pros: Faster training, fewer parameters</a:t>
            </a:r>
          </a:p>
          <a:p>
            <a:pPr lvl="1"/>
            <a:r>
              <a:rPr lang="en-US" dirty="0"/>
              <a:t>Cons: Slightly less accurate</a:t>
            </a:r>
          </a:p>
          <a:p>
            <a:r>
              <a:rPr lang="en-US" dirty="0"/>
              <a:t>Visual Comparison: Bar Chart (Accuracy, Time)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Gained hands-on experience with </a:t>
            </a:r>
            <a:r>
              <a:rPr lang="en-US" altLang="en-US" b="1" cap="none" dirty="0">
                <a:latin typeface="Arial" panose="020B0604020202020204" pitchFamily="34" charset="0"/>
              </a:rPr>
              <a:t>deep learning models</a:t>
            </a:r>
            <a:r>
              <a:rPr lang="en-US" altLang="en-US" cap="none" dirty="0">
                <a:latin typeface="Arial" panose="020B0604020202020204" pitchFamily="34" charset="0"/>
              </a:rPr>
              <a:t> (LSTM &amp; GRU).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Understood the complexity of </a:t>
            </a:r>
            <a:r>
              <a:rPr lang="en-US" altLang="en-US" b="1" cap="none" dirty="0">
                <a:latin typeface="Arial" panose="020B0604020202020204" pitchFamily="34" charset="0"/>
              </a:rPr>
              <a:t>Natural Language Processing (NLP)</a:t>
            </a:r>
            <a:r>
              <a:rPr lang="en-US" altLang="en-US" cap="none" dirty="0">
                <a:latin typeface="Arial" panose="020B0604020202020204" pitchFamily="34" charset="0"/>
              </a:rPr>
              <a:t> tasks.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Explored </a:t>
            </a:r>
            <a:r>
              <a:rPr lang="en-US" altLang="en-US" b="1" cap="none" dirty="0">
                <a:latin typeface="Arial" panose="020B0604020202020204" pitchFamily="34" charset="0"/>
              </a:rPr>
              <a:t>dataset preparation</a:t>
            </a:r>
            <a:r>
              <a:rPr lang="en-US" altLang="en-US" cap="none" dirty="0">
                <a:latin typeface="Arial" panose="020B0604020202020204" pitchFamily="34" charset="0"/>
              </a:rPr>
              <a:t>, </a:t>
            </a:r>
            <a:r>
              <a:rPr lang="en-US" altLang="en-US" b="1" cap="none" dirty="0">
                <a:latin typeface="Arial" panose="020B0604020202020204" pitchFamily="34" charset="0"/>
              </a:rPr>
              <a:t>text preprocessing</a:t>
            </a:r>
            <a:r>
              <a:rPr lang="en-US" altLang="en-US" cap="none" dirty="0">
                <a:latin typeface="Arial" panose="020B0604020202020204" pitchFamily="34" charset="0"/>
              </a:rPr>
              <a:t>, and </a:t>
            </a:r>
            <a:r>
              <a:rPr lang="en-US" altLang="en-US" b="1" cap="none" dirty="0">
                <a:latin typeface="Arial" panose="020B0604020202020204" pitchFamily="34" charset="0"/>
              </a:rPr>
              <a:t>tokenization techniques</a:t>
            </a:r>
            <a:r>
              <a:rPr lang="en-US" altLang="en-US" cap="none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Learned to </a:t>
            </a:r>
            <a:r>
              <a:rPr lang="en-US" altLang="en-US" b="1" cap="none" dirty="0">
                <a:latin typeface="Arial" panose="020B0604020202020204" pitchFamily="34" charset="0"/>
              </a:rPr>
              <a:t>evaluate models</a:t>
            </a:r>
            <a:r>
              <a:rPr lang="en-US" altLang="en-US" cap="none" dirty="0">
                <a:latin typeface="Arial" panose="020B0604020202020204" pitchFamily="34" charset="0"/>
              </a:rPr>
              <a:t> using metrics like </a:t>
            </a:r>
            <a:r>
              <a:rPr lang="en-US" altLang="en-US" b="1" cap="none" dirty="0">
                <a:latin typeface="Arial" panose="020B0604020202020204" pitchFamily="34" charset="0"/>
              </a:rPr>
              <a:t>accuracy</a:t>
            </a:r>
            <a:r>
              <a:rPr lang="en-US" altLang="en-US" cap="none" dirty="0">
                <a:latin typeface="Arial" panose="020B0604020202020204" pitchFamily="34" charset="0"/>
              </a:rPr>
              <a:t>, </a:t>
            </a:r>
            <a:r>
              <a:rPr lang="en-US" altLang="en-US" b="1" cap="none" dirty="0">
                <a:latin typeface="Arial" panose="020B0604020202020204" pitchFamily="34" charset="0"/>
              </a:rPr>
              <a:t>loss.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Developed a collaborative mindset through </a:t>
            </a:r>
            <a:r>
              <a:rPr lang="en-US" altLang="en-US" b="1" cap="none" dirty="0">
                <a:latin typeface="Arial" panose="020B0604020202020204" pitchFamily="34" charset="0"/>
              </a:rPr>
              <a:t>team-based project execution</a:t>
            </a:r>
            <a:r>
              <a:rPr lang="en-US" altLang="en-US" cap="none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Practiced integration of </a:t>
            </a:r>
            <a:r>
              <a:rPr lang="en-US" altLang="en-US" b="1" cap="none" dirty="0">
                <a:latin typeface="Arial" panose="020B0604020202020204" pitchFamily="34" charset="0"/>
              </a:rPr>
              <a:t>book and real-world text data</a:t>
            </a:r>
            <a:r>
              <a:rPr lang="en-US" altLang="en-US" cap="none" dirty="0">
                <a:latin typeface="Arial" panose="020B0604020202020204" pitchFamily="34" charset="0"/>
              </a:rPr>
              <a:t> (Bhopal Gas Tragedy + Literature).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Successfully implemented a </a:t>
            </a:r>
            <a:r>
              <a:rPr lang="en-US" altLang="en-US" b="1" cap="none" dirty="0">
                <a:latin typeface="Arial" panose="020B0604020202020204" pitchFamily="34" charset="0"/>
              </a:rPr>
              <a:t>Next Word Prediction system</a:t>
            </a:r>
            <a:r>
              <a:rPr lang="en-US" altLang="en-US" cap="none" dirty="0">
                <a:latin typeface="Arial" panose="020B0604020202020204" pitchFamily="34" charset="0"/>
              </a:rPr>
              <a:t> using </a:t>
            </a:r>
            <a:r>
              <a:rPr lang="en-US" altLang="en-US" b="1" cap="none" dirty="0">
                <a:latin typeface="Arial" panose="020B0604020202020204" pitchFamily="34" charset="0"/>
              </a:rPr>
              <a:t>LSTM and GRU</a:t>
            </a:r>
            <a:r>
              <a:rPr lang="en-US" altLang="en-US" cap="none" dirty="0">
                <a:latin typeface="Arial" panose="020B0604020202020204" pitchFamily="34" charset="0"/>
              </a:rPr>
              <a:t> models.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Demonstrated how AI can assist in </a:t>
            </a:r>
            <a:r>
              <a:rPr lang="en-US" altLang="en-US" b="1" cap="none" dirty="0">
                <a:latin typeface="Arial" panose="020B0604020202020204" pitchFamily="34" charset="0"/>
              </a:rPr>
              <a:t>language generation</a:t>
            </a:r>
            <a:r>
              <a:rPr lang="en-US" altLang="en-US" cap="none" dirty="0">
                <a:latin typeface="Arial" panose="020B0604020202020204" pitchFamily="34" charset="0"/>
              </a:rPr>
              <a:t> using historical and literary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Built a working </a:t>
            </a:r>
            <a:r>
              <a:rPr lang="en-US" altLang="en-US" b="1" cap="none" dirty="0">
                <a:latin typeface="Arial" panose="020B0604020202020204" pitchFamily="34" charset="0"/>
              </a:rPr>
              <a:t>NLP pipeline</a:t>
            </a:r>
            <a:r>
              <a:rPr lang="en-US" altLang="en-US" cap="none" dirty="0">
                <a:latin typeface="Arial" panose="020B0604020202020204" pitchFamily="34" charset="0"/>
              </a:rPr>
              <a:t> from dataset collection to deployment-ready prediction.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The project reinforced the importance of </a:t>
            </a:r>
            <a:r>
              <a:rPr lang="en-US" b="1" dirty="0"/>
              <a:t>data quality</a:t>
            </a:r>
            <a:r>
              <a:rPr lang="en-US" dirty="0"/>
              <a:t>, </a:t>
            </a:r>
            <a:r>
              <a:rPr lang="en-US" b="1" dirty="0"/>
              <a:t>model selection</a:t>
            </a:r>
            <a:r>
              <a:rPr lang="en-US" dirty="0"/>
              <a:t>, and </a:t>
            </a:r>
            <a:r>
              <a:rPr lang="en-US" b="1" dirty="0"/>
              <a:t>teamwork</a:t>
            </a:r>
            <a:r>
              <a:rPr lang="en-US" dirty="0"/>
              <a:t> in real-world AI applications.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BC7EF-378B-6309-DC62-4DF627DDE7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811692" y="691220"/>
            <a:ext cx="6062135" cy="503766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343644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108</TotalTime>
  <Words>374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Droplet</vt:lpstr>
      <vt:lpstr>Next Word Prediction using LSTM &amp; GRU</vt:lpstr>
      <vt:lpstr>Team Members</vt:lpstr>
      <vt:lpstr>Problem Statement</vt:lpstr>
      <vt:lpstr>Dataset Description</vt:lpstr>
      <vt:lpstr>Model Architecture</vt:lpstr>
      <vt:lpstr>PowerPoint Presentation</vt:lpstr>
      <vt:lpstr>Workflow</vt:lpstr>
      <vt:lpstr>Model Evaluation</vt:lpstr>
      <vt:lpstr>Performance Comparison</vt:lpstr>
      <vt:lpstr>Learning Outcomes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PRATEEK KULSHRESTHA</dc:creator>
  <cp:keywords/>
  <dc:description>generated using python-pptx</dc:description>
  <cp:lastModifiedBy>Mayuri Lad</cp:lastModifiedBy>
  <cp:revision>44</cp:revision>
  <dcterms:created xsi:type="dcterms:W3CDTF">2013-01-27T09:14:16Z</dcterms:created>
  <dcterms:modified xsi:type="dcterms:W3CDTF">2025-06-11T15:10:51Z</dcterms:modified>
  <cp:category/>
</cp:coreProperties>
</file>